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2.png"/><Relationship Id="rId5" Type="http://schemas.openxmlformats.org/officeDocument/2006/relationships/image" Target="../media/image-7-1.png"/><Relationship Id="rId6" Type="http://schemas.openxmlformats.org/officeDocument/2006/relationships/image" Target="../media/image-7-2.png"/><Relationship Id="rId7" Type="http://schemas.openxmlformats.org/officeDocument/2006/relationships/image" Target="../media/image-7-1.png"/><Relationship Id="rId8" Type="http://schemas.openxmlformats.org/officeDocument/2006/relationships/image" Target="../media/image-7-2.png"/><Relationship Id="rId9" Type="http://schemas.openxmlformats.org/officeDocument/2006/relationships/image" Target="../media/image-7-1.png"/><Relationship Id="rId10" Type="http://schemas.openxmlformats.org/officeDocument/2006/relationships/image" Target="../media/image-7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286000"/>
            <a:ext cx="6400800" cy="6400800"/>
          </a:xfrm>
          <a:prstGeom prst="ellipse">
            <a:avLst/>
          </a:prstGeom>
          <a:solidFill>
            <a:srgbClr val="415A7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pic>
        <p:nvPicPr>
          <p:cNvPr id="5" name="Image 0" descr="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30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URBAN MOBILITY  ·  0TH REVIEW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Traffic Signal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on Hadoop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multi-factor, priority-aware Big Data framework that turns raw traffic streams into live signal decisions.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Intelligence &amp;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0" y="5349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Processing &amp;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Analytics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92440" y="48920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415A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21040" y="5029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21040" y="53492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Prediction, Simulation &amp;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Fixed-Time Signals Ignore Real Traffic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signal systems allocate green time on a rigid, pre-set schedule — blind to how traffic actually behaves on any given day.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8803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Unnecessary Waiting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idle at red lights even when the crossing road is empty.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03320" y="2651760"/>
            <a:ext cx="28803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04488" y="279806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Queues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04488" y="32004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timing cannot absorb sudden surges or peak-hour build-up.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28803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9808" y="44897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Signal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phases run on schedule, not on demand — capacity goes unused.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03320" y="4343400"/>
            <a:ext cx="28803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04488" y="4489704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Emergency Priority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04488" y="48920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Ambulances and fire units queue like any other vehicle.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78040" y="1417320"/>
            <a:ext cx="4434840" cy="4709160"/>
          </a:xfrm>
          <a:prstGeom prst="roundRect">
            <a:avLst>
              <a:gd name="adj" fmla="val 2062"/>
            </a:avLst>
          </a:prstGeom>
          <a:solidFill>
            <a:srgbClr val="0D1B2A"/>
          </a:solidFill>
          <a:ln/>
        </p:spPr>
      </p:sp>
      <p:sp>
        <p:nvSpPr>
          <p:cNvPr id="18" name="Text 16"/>
          <p:cNvSpPr/>
          <p:nvPr/>
        </p:nvSpPr>
        <p:spPr>
          <a:xfrm>
            <a:off x="7452360" y="1645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ADAPTATION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2011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length keeps climbing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fixed cycles repeat regardless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demand.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43800" y="5212080"/>
            <a:ext cx="502920" cy="54864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5592" y="4937760"/>
            <a:ext cx="502920" cy="82296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2" name="Shape 20"/>
          <p:cNvSpPr/>
          <p:nvPr/>
        </p:nvSpPr>
        <p:spPr>
          <a:xfrm>
            <a:off x="8787384" y="4572000"/>
            <a:ext cx="502920" cy="118872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3" name="Shape 21"/>
          <p:cNvSpPr/>
          <p:nvPr/>
        </p:nvSpPr>
        <p:spPr>
          <a:xfrm>
            <a:off x="9409176" y="4206240"/>
            <a:ext cx="502920" cy="155448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30968" y="3794760"/>
            <a:ext cx="502920" cy="1965960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52760" y="3291840"/>
            <a:ext cx="502920" cy="246888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5760720"/>
            <a:ext cx="3977640" cy="0"/>
          </a:xfrm>
          <a:prstGeom prst="line">
            <a:avLst/>
          </a:prstGeom>
          <a:noFill/>
          <a:ln w="12700">
            <a:solidFill>
              <a:srgbClr val="A9C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5833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1 → cycle 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Data-Driven, Adaptive Signal Framework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replace fixed timing with a closed-loop system: live and historical traffic data drive a prediction and optimization engine that recommends signal timings in real time — validated through simulation before deployment.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1328" y="2880360"/>
            <a:ext cx="731520" cy="731520"/>
          </a:xfrm>
          <a:prstGeom prst="ellipse">
            <a:avLst/>
          </a:prstGeom>
          <a:solidFill>
            <a:srgbClr val="415A77">
              <a:alpha val="12000"/>
            </a:srgbClr>
          </a:solidFill>
          <a:ln/>
        </p:spPr>
      </p:sp>
      <p:pic>
        <p:nvPicPr>
          <p:cNvPr id="7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30632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94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Big-Data Foundation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 + MapReduce + Hive process large-scale traffic data from multiple intersections and time periods at scale.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383280" y="260604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15968" y="2880360"/>
            <a:ext cx="731520" cy="73152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pic>
        <p:nvPicPr>
          <p:cNvPr id="12" name="Image 1" descr="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30632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794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84448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trends and density patterns are learned and forecast ahead of the next signal cycle.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217920" y="260604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50608" y="2880360"/>
            <a:ext cx="731520" cy="731520"/>
          </a:xfrm>
          <a:prstGeom prst="ellipse">
            <a:avLst/>
          </a:prstGeom>
          <a:solidFill>
            <a:srgbClr val="F4A300">
              <a:alpha val="12000"/>
            </a:srgbClr>
          </a:solidFill>
          <a:ln/>
        </p:spPr>
      </p:sp>
      <p:pic>
        <p:nvPicPr>
          <p:cNvPr id="17" name="Image 2" descr="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30632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794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Optimization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9088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multi-factor engine allocates green time using density, speed, waiting time and congestion trend.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9052560" y="2606040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5248" y="2880360"/>
            <a:ext cx="731520" cy="731520"/>
          </a:xfrm>
          <a:prstGeom prst="ellipse">
            <a:avLst/>
          </a:prstGeom>
          <a:solidFill>
            <a:srgbClr val="D64550">
              <a:alpha val="12000"/>
            </a:srgbClr>
          </a:solidFill>
          <a:ln/>
        </p:spPr>
      </p:sp>
      <p:pic>
        <p:nvPicPr>
          <p:cNvPr id="22" name="Image 3" descr="ambu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30632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79476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53728" y="4389120"/>
            <a:ext cx="22037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emergency vehicles trigger an override that reclaims the green phase they need.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Sensors to Signal Controller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-137160" y="1618488"/>
            <a:ext cx="713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415A7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55064"/>
            <a:ext cx="223113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Sensors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897380"/>
            <a:ext cx="223113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· loop detectors · GPS feeds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3364992" y="1655064"/>
            <a:ext cx="223113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Beacon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64992" y="1897380"/>
            <a:ext cx="223113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/ priority signal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0" y="1600200"/>
            <a:ext cx="2377440" cy="594360"/>
          </a:xfrm>
          <a:prstGeom prst="roundRect">
            <a:avLst>
              <a:gd name="adj" fmla="val 10769"/>
            </a:avLst>
          </a:prstGeom>
          <a:solidFill>
            <a:srgbClr val="415A77"/>
          </a:solidFill>
          <a:ln/>
        </p:spPr>
      </p:sp>
      <p:sp>
        <p:nvSpPr>
          <p:cNvPr id="12" name="Text 10"/>
          <p:cNvSpPr/>
          <p:nvPr/>
        </p:nvSpPr>
        <p:spPr>
          <a:xfrm>
            <a:off x="6016752" y="1655064"/>
            <a:ext cx="223113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Logs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97380"/>
            <a:ext cx="223113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intersection records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-137160" y="2715768"/>
            <a:ext cx="713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3566160" cy="594360"/>
          </a:xfrm>
          <a:prstGeom prst="roundRect">
            <a:avLst>
              <a:gd name="adj" fmla="val 10769"/>
            </a:avLst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2752344"/>
            <a:ext cx="34198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2994660"/>
            <a:ext cx="34198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of raw &amp; historical traffic data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2697480"/>
            <a:ext cx="3566160" cy="594360"/>
          </a:xfrm>
          <a:prstGeom prst="roundRect">
            <a:avLst>
              <a:gd name="adj" fmla="val 10769"/>
            </a:avLst>
          </a:prstGeom>
          <a:solidFill>
            <a:srgbClr val="0D1B2A"/>
          </a:solidFill>
          <a:ln/>
        </p:spPr>
      </p:sp>
      <p:sp>
        <p:nvSpPr>
          <p:cNvPr id="19" name="Text 17"/>
          <p:cNvSpPr/>
          <p:nvPr/>
        </p:nvSpPr>
        <p:spPr>
          <a:xfrm>
            <a:off x="4553712" y="2752344"/>
            <a:ext cx="34198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53712" y="2994660"/>
            <a:ext cx="34198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querying for large-scale analytics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-137160" y="3813048"/>
            <a:ext cx="713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3566160" cy="594360"/>
          </a:xfrm>
          <a:prstGeom prst="roundRect">
            <a:avLst>
              <a:gd name="adj" fmla="val 10769"/>
            </a:avLst>
          </a:prstGeom>
          <a:solidFill>
            <a:srgbClr val="415A77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849624"/>
            <a:ext cx="34198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13232" y="4091940"/>
            <a:ext cx="34198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batch processing across the cluster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80560" y="3794760"/>
            <a:ext cx="3566160" cy="594360"/>
          </a:xfrm>
          <a:prstGeom prst="roundRect">
            <a:avLst>
              <a:gd name="adj" fmla="val 10769"/>
            </a:avLst>
          </a:prstGeom>
          <a:solidFill>
            <a:srgbClr val="415A77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849624"/>
            <a:ext cx="34198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Analytics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53712" y="4091940"/>
            <a:ext cx="34198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Density, speed &amp; peak-hour statistics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-137160" y="4910328"/>
            <a:ext cx="713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946904"/>
            <a:ext cx="328269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13232" y="5189220"/>
            <a:ext cx="328269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near-term congestion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343400" y="4892040"/>
            <a:ext cx="3429000" cy="594360"/>
          </a:xfrm>
          <a:prstGeom prst="roundRect">
            <a:avLst>
              <a:gd name="adj" fmla="val 10769"/>
            </a:avLst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4416552" y="4946904"/>
            <a:ext cx="328269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Engine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416552" y="5189220"/>
            <a:ext cx="328269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signal-time allocation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046720" y="4892040"/>
            <a:ext cx="2194560" cy="594360"/>
          </a:xfrm>
          <a:prstGeom prst="roundRect">
            <a:avLst>
              <a:gd name="adj" fmla="val 10769"/>
            </a:avLst>
          </a:prstGeom>
          <a:solidFill>
            <a:srgbClr val="D64550"/>
          </a:solidFill>
          <a:ln/>
        </p:spPr>
      </p:sp>
      <p:sp>
        <p:nvSpPr>
          <p:cNvPr id="36" name="Text 34"/>
          <p:cNvSpPr/>
          <p:nvPr/>
        </p:nvSpPr>
        <p:spPr>
          <a:xfrm>
            <a:off x="8119872" y="4946904"/>
            <a:ext cx="20482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119872" y="5189220"/>
            <a:ext cx="20482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green-phase trigger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-137160" y="5824728"/>
            <a:ext cx="7132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50" kern="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737360" y="5806440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1810512" y="5861304"/>
            <a:ext cx="38770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Controller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810512" y="6103620"/>
            <a:ext cx="38770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recommended timings at the intersection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17920" y="5806440"/>
            <a:ext cx="4023360" cy="594360"/>
          </a:xfrm>
          <a:prstGeom prst="roundRect">
            <a:avLst>
              <a:gd name="adj" fmla="val 10769"/>
            </a:avLst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6291072" y="5861304"/>
            <a:ext cx="3877056" cy="32689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Evaluation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291072" y="6103620"/>
            <a:ext cx="3877056" cy="2852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before/after performance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828800" y="2194560"/>
            <a:ext cx="0" cy="48463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132320" y="2194560"/>
            <a:ext cx="0" cy="80010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2423160" y="3291840"/>
            <a:ext cx="0" cy="48463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263640" y="3291840"/>
            <a:ext cx="0" cy="48463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423160" y="4389120"/>
            <a:ext cx="0" cy="48463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035040" y="4389120"/>
            <a:ext cx="0" cy="48463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703320" y="5486400"/>
            <a:ext cx="0" cy="30175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275320" y="5486400"/>
            <a:ext cx="0" cy="301752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Stages, One Continuous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415A77"/>
            </a:solidFill>
            <a:prstDash val="solid"/>
          </a:ln>
        </p:spPr>
      </p:sp>
      <p:pic>
        <p:nvPicPr>
          <p:cNvPr id="5" name="Image 0" descr="r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09067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Data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54480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167128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415A77"/>
            </a:solidFill>
            <a:prstDash val="solid"/>
          </a:ln>
        </p:spPr>
      </p:sp>
      <p:pic>
        <p:nvPicPr>
          <p:cNvPr id="9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09067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47088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Hadoop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18688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3831336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415A77"/>
            </a:solidFill>
            <a:prstDash val="solid"/>
          </a:ln>
        </p:spPr>
      </p:sp>
      <p:pic>
        <p:nvPicPr>
          <p:cNvPr id="13" name="Image 2" descr="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368" y="309067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11296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882896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495544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415A77"/>
            </a:solidFill>
            <a:prstDash val="solid"/>
          </a:ln>
        </p:spPr>
      </p:sp>
      <p:pic>
        <p:nvPicPr>
          <p:cNvPr id="17" name="Image 3" descr="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576" y="309067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75504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547104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159752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4A300"/>
            </a:solidFill>
            <a:prstDash val="solid"/>
          </a:ln>
        </p:spPr>
      </p:sp>
      <p:pic>
        <p:nvPicPr>
          <p:cNvPr id="21" name="Image 4" descr="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309067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9712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211312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8823960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4A300"/>
            </a:solidFill>
            <a:prstDash val="solid"/>
          </a:ln>
        </p:spPr>
      </p:sp>
      <p:pic>
        <p:nvPicPr>
          <p:cNvPr id="25" name="Image 5" descr="flas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2" y="309067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03920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9875520" y="3360420"/>
            <a:ext cx="612648" cy="0"/>
          </a:xfrm>
          <a:prstGeom prst="line">
            <a:avLst/>
          </a:prstGeom>
          <a:noFill/>
          <a:ln w="19050">
            <a:solidFill>
              <a:srgbClr val="A9C0D9"/>
            </a:solidFill>
            <a:prstDash val="solid"/>
            <a:tailEnd type="triangle"/>
          </a:ln>
        </p:spPr>
      </p:sp>
      <p:sp>
        <p:nvSpPr>
          <p:cNvPr id="28" name="Shape 20"/>
          <p:cNvSpPr/>
          <p:nvPr/>
        </p:nvSpPr>
        <p:spPr>
          <a:xfrm>
            <a:off x="10488168" y="2834640"/>
            <a:ext cx="1051560" cy="1051560"/>
          </a:xfrm>
          <a:prstGeom prst="ellipse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6D6A0"/>
            </a:solidFill>
            <a:prstDash val="solid"/>
          </a:ln>
        </p:spPr>
      </p:sp>
      <p:pic>
        <p:nvPicPr>
          <p:cNvPr id="29" name="Image 6" descr="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3090672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168128" y="40233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1" name="Shape 22"/>
          <p:cNvSpPr/>
          <p:nvPr/>
        </p:nvSpPr>
        <p:spPr>
          <a:xfrm>
            <a:off x="11013948" y="4480560"/>
            <a:ext cx="0" cy="32004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685532" y="4800600"/>
            <a:ext cx="3328416" cy="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  <a:headEnd type="triangle"/>
          </a:ln>
        </p:spPr>
      </p:sp>
      <p:sp>
        <p:nvSpPr>
          <p:cNvPr id="33" name="Shape 24"/>
          <p:cNvSpPr/>
          <p:nvPr/>
        </p:nvSpPr>
        <p:spPr>
          <a:xfrm>
            <a:off x="7685532" y="4480560"/>
            <a:ext cx="0" cy="320040"/>
          </a:xfrm>
          <a:prstGeom prst="line">
            <a:avLst/>
          </a:prstGeom>
          <a:noFill/>
          <a:ln w="19050">
            <a:solidFill>
              <a:srgbClr val="F4A300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494069" y="49103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 continuously retrain and refine the optimization step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640080" y="580644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data is ingested and distributed across the Hadoop cluster, mined for analytics, used to predict near-term congestion, fed into the optimization engine, stress-tested in simulation, and measured for real-world readiness.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NOVEL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Multi-Factor, Priority-Aware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adaptive systems react to a single signal — usually density. We combine three independent factors into one allocation decision, then ground it in Hadoop-scale historical data rather than a single day’s readings.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944368"/>
            <a:ext cx="502920" cy="502920"/>
          </a:xfrm>
          <a:prstGeom prst="ellipse">
            <a:avLst/>
          </a:prstGeom>
          <a:solidFill>
            <a:srgbClr val="415A77">
              <a:alpha val="12000"/>
            </a:srgbClr>
          </a:solidFill>
          <a:ln/>
        </p:spPr>
      </p:sp>
      <p:pic>
        <p:nvPicPr>
          <p:cNvPr id="7" name="Image 0" descr="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632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Conditions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24128" y="39136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density, speed and waiting time per approach.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62172" y="3429000"/>
            <a:ext cx="402336" cy="40233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3662172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06908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70248" y="2944368"/>
            <a:ext cx="502920" cy="50292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pic>
        <p:nvPicPr>
          <p:cNvPr id="14" name="Image 1" descr="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0632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70248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Trends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70248" y="39136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learned from large-scale historical traffic data.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908292" y="3429000"/>
            <a:ext cx="402336" cy="402336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8" name="Text 14"/>
          <p:cNvSpPr/>
          <p:nvPr/>
        </p:nvSpPr>
        <p:spPr>
          <a:xfrm>
            <a:off x="6908292" y="3429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7315200" y="274320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516368" y="2944368"/>
            <a:ext cx="502920" cy="502920"/>
          </a:xfrm>
          <a:prstGeom prst="ellipse">
            <a:avLst/>
          </a:prstGeom>
          <a:solidFill>
            <a:srgbClr val="D64550">
              <a:alpha val="12000"/>
            </a:srgbClr>
          </a:solidFill>
          <a:ln/>
        </p:spPr>
      </p:sp>
      <p:pic>
        <p:nvPicPr>
          <p:cNvPr id="21" name="Image 2" descr="ambu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30632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16368" y="356616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516368" y="3913632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override for detected emergency vehicles.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080760" y="4480560"/>
            <a:ext cx="0" cy="411480"/>
          </a:xfrm>
          <a:prstGeom prst="line">
            <a:avLst/>
          </a:prstGeom>
          <a:noFill/>
          <a:ln w="19050">
            <a:solidFill>
              <a:srgbClr val="415A77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1737360" y="5166360"/>
            <a:ext cx="8686800" cy="868680"/>
          </a:xfrm>
          <a:prstGeom prst="roundRect">
            <a:avLst>
              <a:gd name="adj" fmla="val 10526"/>
            </a:avLst>
          </a:prstGeom>
          <a:solidFill>
            <a:srgbClr val="0D1B2A"/>
          </a:solidFill>
          <a:ln/>
        </p:spPr>
      </p:sp>
      <p:sp>
        <p:nvSpPr>
          <p:cNvPr id="26" name="Text 21"/>
          <p:cNvSpPr/>
          <p:nvPr/>
        </p:nvSpPr>
        <p:spPr>
          <a:xfrm>
            <a:off x="2011680" y="516636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adaptive allocation decision per cycle — informed by Hadoop-processed historical scale, not just the current frame.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VS. 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Current Signal Systems Fall Short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50876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E9EDF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5087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Fixed-Time Signals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8120" y="1508760"/>
            <a:ext cx="3063240" cy="502920"/>
          </a:xfrm>
          <a:prstGeom prst="roundRect">
            <a:avLst>
              <a:gd name="adj" fmla="val 10909"/>
            </a:avLst>
          </a:prstGeom>
          <a:solidFill>
            <a:srgbClr val="0D1B2A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5087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Framework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11247120" cy="74980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48840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to real-time density</a:t>
            </a:r>
            <a:endParaRPr lang="en-US" sz="1250" dirty="0"/>
          </a:p>
        </p:txBody>
      </p:sp>
      <p:pic>
        <p:nvPicPr>
          <p:cNvPr id="11" name="Image 0" descr="t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203704"/>
            <a:ext cx="365760" cy="365760"/>
          </a:xfrm>
          <a:prstGeom prst="rect">
            <a:avLst/>
          </a:prstGeom>
        </p:spPr>
      </p:pic>
      <p:pic>
        <p:nvPicPr>
          <p:cNvPr id="12" name="Image 1" descr="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20370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2898648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large-scale historical data (Hadoop)</a:t>
            </a:r>
            <a:endParaRPr lang="en-US" sz="1250" dirty="0"/>
          </a:p>
        </p:txBody>
      </p:sp>
      <p:pic>
        <p:nvPicPr>
          <p:cNvPr id="14" name="Image 2" descr="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953512"/>
            <a:ext cx="365760" cy="365760"/>
          </a:xfrm>
          <a:prstGeom prst="rect">
            <a:avLst/>
          </a:prstGeom>
        </p:spPr>
      </p:pic>
      <p:pic>
        <p:nvPicPr>
          <p:cNvPr id="15" name="Image 3" descr="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2953512"/>
            <a:ext cx="365760" cy="3657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7200" y="3593592"/>
            <a:ext cx="11247120" cy="74980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548640" y="3648456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congestion trends</a:t>
            </a:r>
            <a:endParaRPr lang="en-US" sz="1250" dirty="0"/>
          </a:p>
        </p:txBody>
      </p:sp>
      <p:pic>
        <p:nvPicPr>
          <p:cNvPr id="18" name="Image 4" descr="tim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3703320"/>
            <a:ext cx="365760" cy="365760"/>
          </a:xfrm>
          <a:prstGeom prst="rect">
            <a:avLst/>
          </a:prstGeom>
        </p:spPr>
      </p:pic>
      <p:pic>
        <p:nvPicPr>
          <p:cNvPr id="19" name="Image 5" descr="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370332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8640" y="4398264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Emergency-vehicle priority override</a:t>
            </a:r>
            <a:endParaRPr lang="en-US" sz="1250" dirty="0"/>
          </a:p>
        </p:txBody>
      </p:sp>
      <p:pic>
        <p:nvPicPr>
          <p:cNvPr id="21" name="Image 6" descr="tim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4453128"/>
            <a:ext cx="365760" cy="365760"/>
          </a:xfrm>
          <a:prstGeom prst="rect">
            <a:avLst/>
          </a:prstGeom>
        </p:spPr>
      </p:pic>
      <p:pic>
        <p:nvPicPr>
          <p:cNvPr id="22" name="Image 7" descr="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9720" y="4453128"/>
            <a:ext cx="365760" cy="36576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57200" y="5093208"/>
            <a:ext cx="11247120" cy="74980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4" name="Text 14"/>
          <p:cNvSpPr/>
          <p:nvPr/>
        </p:nvSpPr>
        <p:spPr>
          <a:xfrm>
            <a:off x="548640" y="5148072"/>
            <a:ext cx="4160520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before/after validation</a:t>
            </a:r>
            <a:endParaRPr lang="en-US" sz="1250" dirty="0"/>
          </a:p>
        </p:txBody>
      </p:sp>
      <p:pic>
        <p:nvPicPr>
          <p:cNvPr id="25" name="Image 8" descr="tim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5202936"/>
            <a:ext cx="365760" cy="365760"/>
          </a:xfrm>
          <a:prstGeom prst="rect">
            <a:avLst/>
          </a:prstGeom>
        </p:spPr>
      </p:pic>
      <p:pic>
        <p:nvPicPr>
          <p:cNvPr id="26" name="Image 9" descr="che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9720" y="5202936"/>
            <a:ext cx="365760" cy="365760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457200" y="1463040"/>
            <a:ext cx="0" cy="3840480"/>
          </a:xfrm>
          <a:prstGeom prst="line">
            <a:avLst/>
          </a:prstGeom>
          <a:noFill/>
          <a:ln w="12700">
            <a:solidFill>
              <a:srgbClr val="D8DEE4"/>
            </a:solidFill>
            <a:prstDash val="solid"/>
          </a:ln>
        </p:spPr>
      </p:sp>
      <p:sp>
        <p:nvSpPr>
          <p:cNvPr id="2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OWNERSHIP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Three Interlocking Roles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94360" cy="594360"/>
          </a:xfrm>
          <a:prstGeom prst="ellipse">
            <a:avLst/>
          </a:prstGeom>
          <a:solidFill>
            <a:srgbClr val="415A77"/>
          </a:solidFill>
          <a:ln/>
        </p:spPr>
      </p:sp>
      <p:pic>
        <p:nvPicPr>
          <p:cNvPr id="6" name="Image 0" descr="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2938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Intelligence &amp; System Architecture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" y="3502152"/>
            <a:ext cx="82296" cy="82296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0" name="Text 7"/>
          <p:cNvSpPr/>
          <p:nvPr/>
        </p:nvSpPr>
        <p:spPr>
          <a:xfrm>
            <a:off x="987552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modeling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" y="4069080"/>
            <a:ext cx="82296" cy="82296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3995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signal optimization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4672" y="4636008"/>
            <a:ext cx="82296" cy="82296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4" name="Text 11"/>
          <p:cNvSpPr/>
          <p:nvPr/>
        </p:nvSpPr>
        <p:spPr>
          <a:xfrm>
            <a:off x="987552" y="4562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 logic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4672" y="5202936"/>
            <a:ext cx="82296" cy="82296"/>
          </a:xfrm>
          <a:prstGeom prst="ellipse">
            <a:avLst/>
          </a:prstGeom>
          <a:solidFill>
            <a:srgbClr val="415A77"/>
          </a:solidFill>
          <a:ln/>
        </p:spPr>
      </p:sp>
      <p:sp>
        <p:nvSpPr>
          <p:cNvPr id="16" name="Text 13"/>
          <p:cNvSpPr/>
          <p:nvPr/>
        </p:nvSpPr>
        <p:spPr>
          <a:xfrm>
            <a:off x="987552" y="5129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design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25112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81144" y="1783080"/>
            <a:ext cx="594360" cy="59436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9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2938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30952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81144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Data Processing &amp; Traffic Analytics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581144" y="3502152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3" name="Text 19"/>
          <p:cNvSpPr/>
          <p:nvPr/>
        </p:nvSpPr>
        <p:spPr>
          <a:xfrm>
            <a:off x="4764024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dataset design &amp; HDFS storage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581144" y="4069080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5" name="Text 21"/>
          <p:cNvSpPr/>
          <p:nvPr/>
        </p:nvSpPr>
        <p:spPr>
          <a:xfrm>
            <a:off x="4764024" y="3995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MapReduce processing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581144" y="4636008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7" name="Text 23"/>
          <p:cNvSpPr/>
          <p:nvPr/>
        </p:nvSpPr>
        <p:spPr>
          <a:xfrm>
            <a:off x="4764024" y="4562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Hive-based analytics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81144" y="5202936"/>
            <a:ext cx="82296" cy="8229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9" name="Text 25"/>
          <p:cNvSpPr/>
          <p:nvPr/>
        </p:nvSpPr>
        <p:spPr>
          <a:xfrm>
            <a:off x="4764024" y="5129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pattern analysis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8101584" y="1554480"/>
            <a:ext cx="3520440" cy="44348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1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357616" y="1783080"/>
            <a:ext cx="594360" cy="5943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32" name="Image 2" descr="flas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29384"/>
            <a:ext cx="301752" cy="30175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107424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357616" y="25146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Simulation &amp; Evaluation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8357616" y="3502152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6" name="Text 31"/>
          <p:cNvSpPr/>
          <p:nvPr/>
        </p:nvSpPr>
        <p:spPr>
          <a:xfrm>
            <a:off x="8540496" y="3429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Four-way intersection simulation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8357616" y="4069080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8" name="Text 33"/>
          <p:cNvSpPr/>
          <p:nvPr/>
        </p:nvSpPr>
        <p:spPr>
          <a:xfrm>
            <a:off x="8540496" y="39959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prediction module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8357616" y="4636008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0" name="Text 35"/>
          <p:cNvSpPr/>
          <p:nvPr/>
        </p:nvSpPr>
        <p:spPr>
          <a:xfrm>
            <a:off x="8540496" y="456285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vehicle scenarios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8357616" y="5202936"/>
            <a:ext cx="82296" cy="8229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2" name="Text 37"/>
          <p:cNvSpPr/>
          <p:nvPr/>
        </p:nvSpPr>
        <p:spPr>
          <a:xfrm>
            <a:off x="8540496" y="5129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performance metrics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also works across the other two layers of the pipeline — so no one owns "just Hadoop" or "just the frontend."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415A7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06D6A0">
              <a:alpha val="12000"/>
            </a:srgbClr>
          </a:solidFill>
          <a:ln/>
        </p:spPr>
      </p:sp>
      <p:pic>
        <p:nvPicPr>
          <p:cNvPr id="4" name="Image 0" descr="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716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46888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0" y="32461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— 0th Review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63093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Traffic Signal Optimization on Hadoop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2026-09-12T02:26:58Z</dcterms:created>
  <dcterms:modified xsi:type="dcterms:W3CDTF">2026-09-12T02:26:58Z</dcterms:modified>
</cp:coreProperties>
</file>